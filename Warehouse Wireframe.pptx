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N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413"/>
    <a:srgbClr val="B3B3B3"/>
    <a:srgbClr val="242424"/>
    <a:srgbClr val="323232"/>
    <a:srgbClr val="212121"/>
    <a:srgbClr val="303030"/>
    <a:srgbClr val="0A0A0A"/>
    <a:srgbClr val="1B1B1B"/>
    <a:srgbClr val="000000"/>
    <a:srgbClr val="C47D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74" autoAdjust="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3A1E0-7C0D-7BB3-CF03-E27701EC65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C41E25-D707-5E43-7D81-40DF5E42BF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CAB4C-2670-A8DC-4B05-C9F41B67A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7C00B-033C-F896-95DC-545611391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81ABB-8F91-7700-1840-699E6396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4329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51EC7-4AF8-1CDE-9437-14CE681AC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98333-D4C7-3B0A-F9BC-8BA4AFF27B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00B79-BE31-2A1F-A3BF-7B6AB69B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05A7-9192-5E5B-0451-AC4D13CFA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475CBA-507D-CA09-385B-6CE41BFA7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91072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04E8-89DD-9347-6C0E-7B135CA4C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9CC72-DA15-E224-202F-92696449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C61D96-2264-17AA-24CE-ED951C42D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AB180-0BFE-B82C-4E86-C1F5B1508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FC0B8-FED8-662C-8A88-E757B41F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90870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D927-D317-A69E-B2AA-525492FAA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26FDA-1138-79BC-E727-A13F53692C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BDD3C-781B-EAE7-92DB-D6705F623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2EDEC-1CD3-35EC-5778-B39CBF6B1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D01358-EA65-89DC-9516-C2780035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3A13A-9D07-EE79-AF35-D73C8A99C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20647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FBEAD-3A2F-BFC9-8E1E-3F9D06C94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D57D2D-4C7D-BE04-07A7-6CAB032CA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A781E3-A1FE-EBC3-B802-944E90740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E627E5-CAE2-ADCB-711E-A0DAE9AAC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D7FD46-7AA4-C500-F679-57D57A2F58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05E083-4237-FD5C-DE64-4B1C0EC40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96CBB5-8210-F4E5-3808-380DEECAC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3CF3E4-5735-02CB-55B8-37F00338F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747985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0FCFB-A613-09AB-DF4E-C7FC156D6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3390F8-0FEB-A6F4-B74F-1ED0CC185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51C74-A5D2-0E12-E7A8-D8419DFE9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9DDFA-48F3-01CE-7D8F-246647840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920928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1A607-D9A1-93CF-9DDD-0AE2BD2EC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5029E5-B5B3-01CC-C145-64808B95B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3369A8-84D4-5366-34AD-1CB3AB471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153548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FD71A-F358-7A73-43B3-868439EBF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F069D-3ED4-4E9D-D06B-AA5509B1F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7D8E9-421C-80BF-00A3-A87C160BED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F7072-9C83-2E1D-7D16-DA6233E62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2CD296-4224-D37A-7945-981EC559C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39D2D-1B70-A484-D983-44BEC5B2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38660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B3F14-472A-A6A2-63B1-F3F01ADCB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B1CDAA-4C9D-F539-A947-B715D507CB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A50E3-132F-1133-E5EE-B0E014D110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EEADF-67CC-D3B3-4463-4BC347E4C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7AE4B-029F-C4EF-2266-044413945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D922DE-671D-CEA3-C637-C16A9E76F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31988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75E25-76B8-89DD-6A17-A4928527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8AFBBD-49A0-7C3A-C54C-0A9A0B6EE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2BD05-87D4-864C-9E49-F3283231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4FDAA-54EC-A178-46B7-639E949E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D9ECA-4756-C786-AA25-DC3DF0748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565952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D2E92F-FDB7-F57F-C7B4-77ACA5EB5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A9281E-8726-E735-E045-3246E7403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B1B07-4B26-8472-DF9D-06DE620B7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115570-FEF4-B1EA-F693-CCBC459E6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06AEC-934D-4EF9-AAE1-04B4C386C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2801579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ABBE8-9F5D-EB97-0D06-AF5EDBA88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E310A-B1DB-F58E-705E-012BEE0B8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6150F-2F74-0F44-689C-1B25639D4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BFF29-1F93-4471-90E0-31CEE9502E57}" type="datetimeFigureOut">
              <a:rPr lang="en-NG" smtClean="0"/>
              <a:t>14/11/2025</a:t>
            </a:fld>
            <a:endParaRPr lang="en-N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AF2D-950A-B8D1-6BB4-544F8C5CA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76B5C0-0E01-7486-308D-22211B5F68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3C222B-FD05-4203-B5FB-712518F89848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202449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47D53"/>
            </a:gs>
            <a:gs pos="100000">
              <a:srgbClr val="4678B6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88C09A52-3610-0A11-F695-003FF5327236}"/>
              </a:ext>
            </a:extLst>
          </p:cNvPr>
          <p:cNvGrpSpPr/>
          <p:nvPr/>
        </p:nvGrpSpPr>
        <p:grpSpPr>
          <a:xfrm>
            <a:off x="98474" y="42204"/>
            <a:ext cx="11941126" cy="6752493"/>
            <a:chOff x="98474" y="42204"/>
            <a:chExt cx="11941126" cy="675249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D3CBD3B-4C60-F3C1-0953-DEAC86D0529F}"/>
                </a:ext>
              </a:extLst>
            </p:cNvPr>
            <p:cNvSpPr/>
            <p:nvPr/>
          </p:nvSpPr>
          <p:spPr>
            <a:xfrm>
              <a:off x="98474" y="576777"/>
              <a:ext cx="11941126" cy="6217920"/>
            </a:xfrm>
            <a:prstGeom prst="roundRect">
              <a:avLst>
                <a:gd name="adj" fmla="val 3447"/>
              </a:avLst>
            </a:prstGeom>
            <a:solidFill>
              <a:srgbClr val="0A0A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3501439C-B90D-137A-9C04-5CC2CAF96174}"/>
                </a:ext>
              </a:extLst>
            </p:cNvPr>
            <p:cNvSpPr/>
            <p:nvPr/>
          </p:nvSpPr>
          <p:spPr>
            <a:xfrm>
              <a:off x="3137095" y="42204"/>
              <a:ext cx="5655212" cy="59084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A0A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7E0E5BC-C032-13C9-3726-AD549B973DCD}"/>
                </a:ext>
              </a:extLst>
            </p:cNvPr>
            <p:cNvSpPr/>
            <p:nvPr/>
          </p:nvSpPr>
          <p:spPr>
            <a:xfrm>
              <a:off x="253218" y="794825"/>
              <a:ext cx="1808573" cy="5836032"/>
            </a:xfrm>
            <a:prstGeom prst="roundRect">
              <a:avLst>
                <a:gd name="adj" fmla="val 10238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pic>
          <p:nvPicPr>
            <p:cNvPr id="9" name="Picture 8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FE418A7-ABE2-362C-A148-80629307E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0150" y="187873"/>
              <a:ext cx="313582" cy="313582"/>
            </a:xfrm>
            <a:prstGeom prst="rect">
              <a:avLst/>
            </a:prstGeom>
            <a:noFill/>
          </p:spPr>
        </p:pic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CFAD4D9-3D6B-1A05-2038-938D9B099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0787" y="105582"/>
              <a:ext cx="465745" cy="430160"/>
            </a:xfrm>
            <a:prstGeom prst="rect">
              <a:avLst/>
            </a:prstGeom>
            <a:noFill/>
          </p:spPr>
        </p:pic>
        <p:pic>
          <p:nvPicPr>
            <p:cNvPr id="13" name="Picture 1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7B09250-2D8F-1CF1-47B6-C9484D8EF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2571" y="105582"/>
              <a:ext cx="394575" cy="394575"/>
            </a:xfrm>
            <a:prstGeom prst="rect">
              <a:avLst/>
            </a:prstGeom>
            <a:noFill/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E0FB809-7107-0273-3AFF-111659B7FC4E}"/>
                </a:ext>
              </a:extLst>
            </p:cNvPr>
            <p:cNvSpPr/>
            <p:nvPr/>
          </p:nvSpPr>
          <p:spPr>
            <a:xfrm>
              <a:off x="2188850" y="1259062"/>
              <a:ext cx="2368876" cy="1273120"/>
            </a:xfrm>
            <a:prstGeom prst="roundRect">
              <a:avLst>
                <a:gd name="adj" fmla="val 18877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E2A1BA03-356B-C456-C0C9-2ACCB4C75816}"/>
                </a:ext>
              </a:extLst>
            </p:cNvPr>
            <p:cNvSpPr/>
            <p:nvPr/>
          </p:nvSpPr>
          <p:spPr>
            <a:xfrm>
              <a:off x="9610538" y="1259063"/>
              <a:ext cx="2336400" cy="1273116"/>
            </a:xfrm>
            <a:prstGeom prst="roundRect">
              <a:avLst/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7242969-0211-A276-6BA5-6C483042883E}"/>
                </a:ext>
              </a:extLst>
            </p:cNvPr>
            <p:cNvSpPr/>
            <p:nvPr/>
          </p:nvSpPr>
          <p:spPr>
            <a:xfrm>
              <a:off x="4684783" y="1259062"/>
              <a:ext cx="2335239" cy="1273120"/>
            </a:xfrm>
            <a:prstGeom prst="roundRect">
              <a:avLst/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9023E60-62C0-1F16-F96E-8376E77A1D6C}"/>
                </a:ext>
              </a:extLst>
            </p:cNvPr>
            <p:cNvSpPr/>
            <p:nvPr/>
          </p:nvSpPr>
          <p:spPr>
            <a:xfrm>
              <a:off x="7147080" y="1259062"/>
              <a:ext cx="2336400" cy="1273118"/>
            </a:xfrm>
            <a:prstGeom prst="roundRect">
              <a:avLst/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pic>
          <p:nvPicPr>
            <p:cNvPr id="19" name="Picture 18" descr="A blue and black logo&#10;&#10;Description automatically generated">
              <a:extLst>
                <a:ext uri="{FF2B5EF4-FFF2-40B4-BE49-F238E27FC236}">
                  <a16:creationId xmlns:a16="http://schemas.microsoft.com/office/drawing/2014/main" id="{9576E590-9F98-69A5-8CED-79F5992029D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569" y="6006458"/>
              <a:ext cx="324000" cy="324000"/>
            </a:xfrm>
            <a:prstGeom prst="rect">
              <a:avLst/>
            </a:prstGeom>
          </p:spPr>
        </p:pic>
        <p:pic>
          <p:nvPicPr>
            <p:cNvPr id="23" name="Picture 22" descr="A blue and green globe&#10;&#10;Description automatically generated">
              <a:extLst>
                <a:ext uri="{FF2B5EF4-FFF2-40B4-BE49-F238E27FC236}">
                  <a16:creationId xmlns:a16="http://schemas.microsoft.com/office/drawing/2014/main" id="{7BD1670A-5387-0994-A02E-F55366ECA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218039" y="6006458"/>
              <a:ext cx="324000" cy="324000"/>
            </a:xfrm>
            <a:prstGeom prst="rect">
              <a:avLst/>
            </a:prstGeom>
          </p:spPr>
        </p:pic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B1766CA-E722-3C94-5B04-A8533DB0D1A3}"/>
                </a:ext>
              </a:extLst>
            </p:cNvPr>
            <p:cNvSpPr/>
            <p:nvPr/>
          </p:nvSpPr>
          <p:spPr>
            <a:xfrm>
              <a:off x="3669896" y="1422054"/>
              <a:ext cx="711568" cy="252000"/>
            </a:xfrm>
            <a:prstGeom prst="roundRect">
              <a:avLst>
                <a:gd name="adj" fmla="val 18568"/>
              </a:avLst>
            </a:prstGeom>
            <a:solidFill>
              <a:srgbClr val="2424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D13A054-7D9E-07B8-3F9E-ADECE85CFEAE}"/>
                </a:ext>
              </a:extLst>
            </p:cNvPr>
            <p:cNvSpPr/>
            <p:nvPr/>
          </p:nvSpPr>
          <p:spPr>
            <a:xfrm>
              <a:off x="8608570" y="1422054"/>
              <a:ext cx="711568" cy="252000"/>
            </a:xfrm>
            <a:prstGeom prst="roundRect">
              <a:avLst/>
            </a:prstGeom>
            <a:solidFill>
              <a:srgbClr val="2424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3FB868DB-48A9-F44C-7A4E-D0485B0A5569}"/>
                </a:ext>
              </a:extLst>
            </p:cNvPr>
            <p:cNvSpPr/>
            <p:nvPr/>
          </p:nvSpPr>
          <p:spPr>
            <a:xfrm>
              <a:off x="6129939" y="1427814"/>
              <a:ext cx="711568" cy="252000"/>
            </a:xfrm>
            <a:prstGeom prst="roundRect">
              <a:avLst/>
            </a:prstGeom>
            <a:solidFill>
              <a:srgbClr val="2424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C8079A0-CFAB-7FA7-42E1-2C3BE4D0D5B7}"/>
                </a:ext>
              </a:extLst>
            </p:cNvPr>
            <p:cNvCxnSpPr>
              <a:cxnSpLocks/>
            </p:cNvCxnSpPr>
            <p:nvPr/>
          </p:nvCxnSpPr>
          <p:spPr>
            <a:xfrm>
              <a:off x="2174782" y="2229731"/>
              <a:ext cx="2368874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E673EE1-8B55-4E88-B647-925D63A91AB7}"/>
                </a:ext>
              </a:extLst>
            </p:cNvPr>
            <p:cNvCxnSpPr>
              <a:cxnSpLocks/>
            </p:cNvCxnSpPr>
            <p:nvPr/>
          </p:nvCxnSpPr>
          <p:spPr>
            <a:xfrm>
              <a:off x="9610538" y="2229731"/>
              <a:ext cx="2335239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4FB661F-7197-EC48-A677-E15D0F5F7A3A}"/>
                </a:ext>
              </a:extLst>
            </p:cNvPr>
            <p:cNvCxnSpPr>
              <a:cxnSpLocks/>
            </p:cNvCxnSpPr>
            <p:nvPr/>
          </p:nvCxnSpPr>
          <p:spPr>
            <a:xfrm>
              <a:off x="7148241" y="2229731"/>
              <a:ext cx="2335239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C4A0C08-B9DE-EE4E-6F80-FD08849CDBC0}"/>
                </a:ext>
              </a:extLst>
            </p:cNvPr>
            <p:cNvCxnSpPr>
              <a:cxnSpLocks/>
            </p:cNvCxnSpPr>
            <p:nvPr/>
          </p:nvCxnSpPr>
          <p:spPr>
            <a:xfrm>
              <a:off x="4684783" y="2229731"/>
              <a:ext cx="2335239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E8C02E0-DF2F-EE07-CFC6-6518A9D23BCB}"/>
                </a:ext>
              </a:extLst>
            </p:cNvPr>
            <p:cNvSpPr/>
            <p:nvPr/>
          </p:nvSpPr>
          <p:spPr>
            <a:xfrm>
              <a:off x="2188850" y="2607501"/>
              <a:ext cx="9756927" cy="2048902"/>
            </a:xfrm>
            <a:prstGeom prst="roundRect">
              <a:avLst>
                <a:gd name="adj" fmla="val 6866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E1624729-6BD3-FFDF-C78D-824190CE4CD6}"/>
                </a:ext>
              </a:extLst>
            </p:cNvPr>
            <p:cNvSpPr/>
            <p:nvPr/>
          </p:nvSpPr>
          <p:spPr>
            <a:xfrm>
              <a:off x="2189572" y="4731722"/>
              <a:ext cx="4830450" cy="1885069"/>
            </a:xfrm>
            <a:prstGeom prst="roundRect">
              <a:avLst>
                <a:gd name="adj" fmla="val 11730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4473DD8-0DA7-3A1B-868C-CCDB98F35718}"/>
                </a:ext>
              </a:extLst>
            </p:cNvPr>
            <p:cNvSpPr/>
            <p:nvPr/>
          </p:nvSpPr>
          <p:spPr>
            <a:xfrm>
              <a:off x="7147080" y="4705647"/>
              <a:ext cx="4798696" cy="1911142"/>
            </a:xfrm>
            <a:prstGeom prst="roundRect">
              <a:avLst>
                <a:gd name="adj" fmla="val 10238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373220BF-3601-205B-50B4-556748FA2825}"/>
                </a:ext>
              </a:extLst>
            </p:cNvPr>
            <p:cNvSpPr/>
            <p:nvPr/>
          </p:nvSpPr>
          <p:spPr>
            <a:xfrm>
              <a:off x="7542590" y="2649703"/>
              <a:ext cx="4332848" cy="1962000"/>
            </a:xfrm>
            <a:prstGeom prst="roundRect">
              <a:avLst>
                <a:gd name="adj" fmla="val 9521"/>
              </a:avLst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pic>
          <p:nvPicPr>
            <p:cNvPr id="52" name="Picture 51" descr="A person wearing a vest and tie&#10;&#10;Description automatically generated">
              <a:extLst>
                <a:ext uri="{FF2B5EF4-FFF2-40B4-BE49-F238E27FC236}">
                  <a16:creationId xmlns:a16="http://schemas.microsoft.com/office/drawing/2014/main" id="{F96F7D04-309E-521E-C98E-5A7A2995B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97883" y="681913"/>
              <a:ext cx="534575" cy="52638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96B18EE-8C50-7FEF-0DFD-B708D7F6D382}"/>
                </a:ext>
              </a:extLst>
            </p:cNvPr>
            <p:cNvSpPr txBox="1"/>
            <p:nvPr/>
          </p:nvSpPr>
          <p:spPr>
            <a:xfrm>
              <a:off x="2174782" y="844036"/>
              <a:ext cx="46187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Retail &amp; Inventory Sales Dashboard</a:t>
              </a:r>
              <a:endParaRPr lang="en-NG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4BD9AFD-BD4E-6EE1-AB67-C3119204EBEC}"/>
                </a:ext>
              </a:extLst>
            </p:cNvPr>
            <p:cNvSpPr txBox="1"/>
            <p:nvPr/>
          </p:nvSpPr>
          <p:spPr>
            <a:xfrm>
              <a:off x="124613" y="1482511"/>
              <a:ext cx="20611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PrimeBeverage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Distribution Ltd.</a:t>
              </a:r>
              <a:endParaRPr lang="en-NG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26" name="Picture 25" descr="A pair of wine glasses&#10;&#10;Description automatically generated">
              <a:extLst>
                <a:ext uri="{FF2B5EF4-FFF2-40B4-BE49-F238E27FC236}">
                  <a16:creationId xmlns:a16="http://schemas.microsoft.com/office/drawing/2014/main" id="{17B488FD-BF8D-DEC5-CE5C-4BE027C96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69" y="842988"/>
              <a:ext cx="532470" cy="608089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96F1E57-DAC1-061A-561E-6C384F856A40}"/>
                </a:ext>
              </a:extLst>
            </p:cNvPr>
            <p:cNvSpPr txBox="1"/>
            <p:nvPr/>
          </p:nvSpPr>
          <p:spPr>
            <a:xfrm>
              <a:off x="2241939" y="1328377"/>
              <a:ext cx="11662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Total Revenue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EEE0059-4BA1-ED2E-116E-45AB5E1E9ADA}"/>
                </a:ext>
              </a:extLst>
            </p:cNvPr>
            <p:cNvSpPr txBox="1"/>
            <p:nvPr/>
          </p:nvSpPr>
          <p:spPr>
            <a:xfrm>
              <a:off x="7191213" y="1323225"/>
              <a:ext cx="11662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Unit Sold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5C1A8CAE-B95D-9F9A-1FF8-1757A9744F8C}"/>
                </a:ext>
              </a:extLst>
            </p:cNvPr>
            <p:cNvSpPr txBox="1"/>
            <p:nvPr/>
          </p:nvSpPr>
          <p:spPr>
            <a:xfrm>
              <a:off x="4712919" y="1323226"/>
              <a:ext cx="11662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Total Profit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2C16805-D833-8DBB-D884-1D057487F407}"/>
                </a:ext>
              </a:extLst>
            </p:cNvPr>
            <p:cNvSpPr txBox="1"/>
            <p:nvPr/>
          </p:nvSpPr>
          <p:spPr>
            <a:xfrm>
              <a:off x="9635517" y="1328377"/>
              <a:ext cx="156236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Avg Profit Margin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1398A79-1DB2-E62B-408C-B888A5D5CF28}"/>
                </a:ext>
              </a:extLst>
            </p:cNvPr>
            <p:cNvSpPr txBox="1"/>
            <p:nvPr/>
          </p:nvSpPr>
          <p:spPr>
            <a:xfrm>
              <a:off x="2241939" y="2652970"/>
              <a:ext cx="2315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Monthly Sale Performance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FC3EFE5-DE8D-3F89-8F47-115DB8929181}"/>
                </a:ext>
              </a:extLst>
            </p:cNvPr>
            <p:cNvSpPr txBox="1"/>
            <p:nvPr/>
          </p:nvSpPr>
          <p:spPr>
            <a:xfrm>
              <a:off x="7634413" y="2699654"/>
              <a:ext cx="26068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Top Sold Product Category (QTY)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B1222AB-0F4C-C6A8-D01A-36D4DF11B665}"/>
                </a:ext>
              </a:extLst>
            </p:cNvPr>
            <p:cNvSpPr txBox="1"/>
            <p:nvPr/>
          </p:nvSpPr>
          <p:spPr>
            <a:xfrm>
              <a:off x="2241938" y="4771241"/>
              <a:ext cx="2315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Top Suppliers Performance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B562EC8-21AF-476C-42D5-F302CFCB9119}"/>
                </a:ext>
              </a:extLst>
            </p:cNvPr>
            <p:cNvSpPr txBox="1"/>
            <p:nvPr/>
          </p:nvSpPr>
          <p:spPr>
            <a:xfrm>
              <a:off x="7230641" y="4771241"/>
              <a:ext cx="231578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Top Product Sales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8858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47D53"/>
            </a:gs>
            <a:gs pos="100000">
              <a:srgbClr val="4678B6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8DD6F74A-04ED-455A-B309-94DD8977D23E}"/>
              </a:ext>
            </a:extLst>
          </p:cNvPr>
          <p:cNvGrpSpPr/>
          <p:nvPr/>
        </p:nvGrpSpPr>
        <p:grpSpPr>
          <a:xfrm>
            <a:off x="98474" y="42204"/>
            <a:ext cx="11941126" cy="6752493"/>
            <a:chOff x="98474" y="42204"/>
            <a:chExt cx="11941126" cy="675249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D3CBD3B-4C60-F3C1-0953-DEAC86D0529F}"/>
                </a:ext>
              </a:extLst>
            </p:cNvPr>
            <p:cNvSpPr/>
            <p:nvPr/>
          </p:nvSpPr>
          <p:spPr>
            <a:xfrm>
              <a:off x="98474" y="576777"/>
              <a:ext cx="11941126" cy="6217920"/>
            </a:xfrm>
            <a:prstGeom prst="roundRect">
              <a:avLst>
                <a:gd name="adj" fmla="val 3447"/>
              </a:avLst>
            </a:prstGeom>
            <a:solidFill>
              <a:srgbClr val="0A0A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3501439C-B90D-137A-9C04-5CC2CAF96174}"/>
                </a:ext>
              </a:extLst>
            </p:cNvPr>
            <p:cNvSpPr/>
            <p:nvPr/>
          </p:nvSpPr>
          <p:spPr>
            <a:xfrm>
              <a:off x="3137095" y="42204"/>
              <a:ext cx="5655212" cy="59084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A0A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7E0E5BC-C032-13C9-3726-AD549B973DCD}"/>
                </a:ext>
              </a:extLst>
            </p:cNvPr>
            <p:cNvSpPr/>
            <p:nvPr/>
          </p:nvSpPr>
          <p:spPr>
            <a:xfrm>
              <a:off x="253218" y="794825"/>
              <a:ext cx="1808573" cy="5836032"/>
            </a:xfrm>
            <a:prstGeom prst="roundRect">
              <a:avLst>
                <a:gd name="adj" fmla="val 10238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pic>
          <p:nvPicPr>
            <p:cNvPr id="9" name="Picture 8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FE418A7-ABE2-362C-A148-80629307E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0150" y="187873"/>
              <a:ext cx="313582" cy="313582"/>
            </a:xfrm>
            <a:prstGeom prst="rect">
              <a:avLst/>
            </a:prstGeom>
            <a:noFill/>
          </p:spPr>
        </p:pic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CFAD4D9-3D6B-1A05-2038-938D9B099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0787" y="105582"/>
              <a:ext cx="465745" cy="430160"/>
            </a:xfrm>
            <a:prstGeom prst="rect">
              <a:avLst/>
            </a:prstGeom>
            <a:noFill/>
          </p:spPr>
        </p:pic>
        <p:pic>
          <p:nvPicPr>
            <p:cNvPr id="13" name="Picture 1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7B09250-2D8F-1CF1-47B6-C9484D8EF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2571" y="105582"/>
              <a:ext cx="394575" cy="394575"/>
            </a:xfrm>
            <a:prstGeom prst="rect">
              <a:avLst/>
            </a:prstGeom>
            <a:noFill/>
          </p:spPr>
        </p:pic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E0FB809-7107-0273-3AFF-111659B7FC4E}"/>
                </a:ext>
              </a:extLst>
            </p:cNvPr>
            <p:cNvSpPr/>
            <p:nvPr/>
          </p:nvSpPr>
          <p:spPr>
            <a:xfrm>
              <a:off x="2188848" y="1259062"/>
              <a:ext cx="2961129" cy="1273120"/>
            </a:xfrm>
            <a:prstGeom prst="roundRect">
              <a:avLst>
                <a:gd name="adj" fmla="val 18877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37242969-0211-A276-6BA5-6C483042883E}"/>
                </a:ext>
              </a:extLst>
            </p:cNvPr>
            <p:cNvSpPr/>
            <p:nvPr/>
          </p:nvSpPr>
          <p:spPr>
            <a:xfrm>
              <a:off x="5291435" y="1248508"/>
              <a:ext cx="2961129" cy="1273120"/>
            </a:xfrm>
            <a:prstGeom prst="roundRect">
              <a:avLst/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0B1766CA-E722-3C94-5B04-A8533DB0D1A3}"/>
                </a:ext>
              </a:extLst>
            </p:cNvPr>
            <p:cNvSpPr/>
            <p:nvPr/>
          </p:nvSpPr>
          <p:spPr>
            <a:xfrm>
              <a:off x="4193629" y="1458855"/>
              <a:ext cx="711568" cy="252000"/>
            </a:xfrm>
            <a:prstGeom prst="roundRect">
              <a:avLst>
                <a:gd name="adj" fmla="val 18568"/>
              </a:avLst>
            </a:prstGeom>
            <a:solidFill>
              <a:srgbClr val="24242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C8079A0-CFAB-7FA7-42E1-2C3BE4D0D5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4782" y="2219177"/>
              <a:ext cx="2975195" cy="10554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C4A0C08-B9DE-EE4E-6F80-FD08849CDBC0}"/>
                </a:ext>
              </a:extLst>
            </p:cNvPr>
            <p:cNvCxnSpPr>
              <a:cxnSpLocks/>
            </p:cNvCxnSpPr>
            <p:nvPr/>
          </p:nvCxnSpPr>
          <p:spPr>
            <a:xfrm>
              <a:off x="5291436" y="2219177"/>
              <a:ext cx="290021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E8C02E0-DF2F-EE07-CFC6-6518A9D23BCB}"/>
                </a:ext>
              </a:extLst>
            </p:cNvPr>
            <p:cNvSpPr/>
            <p:nvPr/>
          </p:nvSpPr>
          <p:spPr>
            <a:xfrm>
              <a:off x="8376532" y="1259062"/>
              <a:ext cx="3562250" cy="5356693"/>
            </a:xfrm>
            <a:prstGeom prst="roundRect">
              <a:avLst>
                <a:gd name="adj" fmla="val 6866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pic>
          <p:nvPicPr>
            <p:cNvPr id="2" name="Picture 1" descr="A person wearing a vest and tie&#10;&#10;Description automatically generated">
              <a:extLst>
                <a:ext uri="{FF2B5EF4-FFF2-40B4-BE49-F238E27FC236}">
                  <a16:creationId xmlns:a16="http://schemas.microsoft.com/office/drawing/2014/main" id="{E1443A0F-C3F6-1F0F-2F98-3BF4BDE26A2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97883" y="681913"/>
              <a:ext cx="534575" cy="526380"/>
            </a:xfrm>
            <a:prstGeom prst="rect">
              <a:avLst/>
            </a:prstGeom>
          </p:spPr>
        </p:pic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2BB9EA3B-FC87-E4B6-BEAE-2D43E8A3CD84}"/>
                </a:ext>
              </a:extLst>
            </p:cNvPr>
            <p:cNvSpPr/>
            <p:nvPr/>
          </p:nvSpPr>
          <p:spPr>
            <a:xfrm>
              <a:off x="2188851" y="2600638"/>
              <a:ext cx="6063714" cy="1787355"/>
            </a:xfrm>
            <a:prstGeom prst="roundRect">
              <a:avLst>
                <a:gd name="adj" fmla="val 6866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AE56882A-2E08-A2CA-28A4-CA9C3BA2248C}"/>
                </a:ext>
              </a:extLst>
            </p:cNvPr>
            <p:cNvSpPr/>
            <p:nvPr/>
          </p:nvSpPr>
          <p:spPr>
            <a:xfrm>
              <a:off x="2174783" y="4473241"/>
              <a:ext cx="6077782" cy="2142513"/>
            </a:xfrm>
            <a:prstGeom prst="roundRect">
              <a:avLst>
                <a:gd name="adj" fmla="val 6866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BB1A6DB-67A5-6D8B-58B9-1C1391B48593}"/>
                </a:ext>
              </a:extLst>
            </p:cNvPr>
            <p:cNvSpPr txBox="1"/>
            <p:nvPr/>
          </p:nvSpPr>
          <p:spPr>
            <a:xfrm>
              <a:off x="2174782" y="844036"/>
              <a:ext cx="46187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Retail &amp; Inventory Sales Dashboard</a:t>
              </a:r>
              <a:endParaRPr lang="en-NG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50C69F3-86CB-7906-7D2B-660759ECA24E}"/>
                </a:ext>
              </a:extLst>
            </p:cNvPr>
            <p:cNvSpPr txBox="1"/>
            <p:nvPr/>
          </p:nvSpPr>
          <p:spPr>
            <a:xfrm>
              <a:off x="124613" y="1482511"/>
              <a:ext cx="20611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PrimeBeverage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Distribution Ltd.</a:t>
              </a:r>
              <a:endParaRPr lang="en-NG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15" name="Picture 14" descr="A pair of wine glasses&#10;&#10;Description automatically generated">
              <a:extLst>
                <a:ext uri="{FF2B5EF4-FFF2-40B4-BE49-F238E27FC236}">
                  <a16:creationId xmlns:a16="http://schemas.microsoft.com/office/drawing/2014/main" id="{89C75DFE-10F7-8597-1EF3-E05AF22DF8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69" y="842988"/>
              <a:ext cx="532470" cy="608089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F62FD85-5FCD-1C06-7F4E-E90A7D5F1829}"/>
                </a:ext>
              </a:extLst>
            </p:cNvPr>
            <p:cNvSpPr txBox="1"/>
            <p:nvPr/>
          </p:nvSpPr>
          <p:spPr>
            <a:xfrm>
              <a:off x="2241939" y="1328377"/>
              <a:ext cx="11662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Unit Sold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9CCC9BE-3DF0-FDB1-BDCC-98FA168F1C98}"/>
                </a:ext>
              </a:extLst>
            </p:cNvPr>
            <p:cNvSpPr txBox="1"/>
            <p:nvPr/>
          </p:nvSpPr>
          <p:spPr>
            <a:xfrm>
              <a:off x="5381565" y="1320355"/>
              <a:ext cx="152841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Avg Sale Per item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0F1F35C-CE5A-E722-4422-FE9C9D516AAE}"/>
                </a:ext>
              </a:extLst>
            </p:cNvPr>
            <p:cNvSpPr txBox="1"/>
            <p:nvPr/>
          </p:nvSpPr>
          <p:spPr>
            <a:xfrm>
              <a:off x="2241939" y="2685886"/>
              <a:ext cx="266325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Product Category Performance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24" name="Picture 23" descr="A blue and black logo&#10;&#10;Description automatically generated">
              <a:extLst>
                <a:ext uri="{FF2B5EF4-FFF2-40B4-BE49-F238E27FC236}">
                  <a16:creationId xmlns:a16="http://schemas.microsoft.com/office/drawing/2014/main" id="{998B2502-2B0F-58CB-8E45-82E8429CA1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569" y="6006458"/>
              <a:ext cx="324000" cy="324000"/>
            </a:xfrm>
            <a:prstGeom prst="rect">
              <a:avLst/>
            </a:prstGeom>
          </p:spPr>
        </p:pic>
        <p:pic>
          <p:nvPicPr>
            <p:cNvPr id="25" name="Picture 24" descr="A blue and green globe&#10;&#10;Description automatically generated">
              <a:extLst>
                <a:ext uri="{FF2B5EF4-FFF2-40B4-BE49-F238E27FC236}">
                  <a16:creationId xmlns:a16="http://schemas.microsoft.com/office/drawing/2014/main" id="{E00A782B-0167-7151-86D6-E5F15C28E33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218039" y="6006458"/>
              <a:ext cx="324000" cy="324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714DFB0-00F5-2FEF-98F5-6D4C9083E049}"/>
                </a:ext>
              </a:extLst>
            </p:cNvPr>
            <p:cNvSpPr txBox="1"/>
            <p:nvPr/>
          </p:nvSpPr>
          <p:spPr>
            <a:xfrm>
              <a:off x="8429980" y="1333228"/>
              <a:ext cx="1966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Product Category Share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F8A268-C32E-2C51-3E36-30810ECF2B1A}"/>
                </a:ext>
              </a:extLst>
            </p:cNvPr>
            <p:cNvSpPr txBox="1"/>
            <p:nvPr/>
          </p:nvSpPr>
          <p:spPr>
            <a:xfrm>
              <a:off x="8446871" y="3547237"/>
              <a:ext cx="196604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Top Profitable Products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5A6D8DD-9352-58F9-4A31-66FE344C97EC}"/>
                </a:ext>
              </a:extLst>
            </p:cNvPr>
            <p:cNvSpPr txBox="1"/>
            <p:nvPr/>
          </p:nvSpPr>
          <p:spPr>
            <a:xfrm>
              <a:off x="2244757" y="4537665"/>
              <a:ext cx="26604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Monthly Category Performance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93684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C47D53"/>
            </a:gs>
            <a:gs pos="100000">
              <a:srgbClr val="4678B6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D179D104-F2EF-343B-29D7-5F2BA0ECF7E8}"/>
              </a:ext>
            </a:extLst>
          </p:cNvPr>
          <p:cNvGrpSpPr/>
          <p:nvPr/>
        </p:nvGrpSpPr>
        <p:grpSpPr>
          <a:xfrm>
            <a:off x="98474" y="42204"/>
            <a:ext cx="11941126" cy="6752493"/>
            <a:chOff x="98474" y="42204"/>
            <a:chExt cx="11941126" cy="6752493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0D3CBD3B-4C60-F3C1-0953-DEAC86D0529F}"/>
                </a:ext>
              </a:extLst>
            </p:cNvPr>
            <p:cNvSpPr/>
            <p:nvPr/>
          </p:nvSpPr>
          <p:spPr>
            <a:xfrm>
              <a:off x="98474" y="576777"/>
              <a:ext cx="11941126" cy="6217920"/>
            </a:xfrm>
            <a:prstGeom prst="roundRect">
              <a:avLst>
                <a:gd name="adj" fmla="val 3447"/>
              </a:avLst>
            </a:prstGeom>
            <a:solidFill>
              <a:srgbClr val="0A0A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3501439C-B90D-137A-9C04-5CC2CAF96174}"/>
                </a:ext>
              </a:extLst>
            </p:cNvPr>
            <p:cNvSpPr/>
            <p:nvPr/>
          </p:nvSpPr>
          <p:spPr>
            <a:xfrm>
              <a:off x="3137095" y="42204"/>
              <a:ext cx="5655212" cy="590841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0A0A0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67E0E5BC-C032-13C9-3726-AD549B973DCD}"/>
                </a:ext>
              </a:extLst>
            </p:cNvPr>
            <p:cNvSpPr/>
            <p:nvPr/>
          </p:nvSpPr>
          <p:spPr>
            <a:xfrm>
              <a:off x="253218" y="794825"/>
              <a:ext cx="1808573" cy="5836032"/>
            </a:xfrm>
            <a:prstGeom prst="roundRect">
              <a:avLst>
                <a:gd name="adj" fmla="val 10238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pic>
          <p:nvPicPr>
            <p:cNvPr id="9" name="Picture 8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FE418A7-ABE2-362C-A148-80629307E8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0150" y="187873"/>
              <a:ext cx="313582" cy="313582"/>
            </a:xfrm>
            <a:prstGeom prst="rect">
              <a:avLst/>
            </a:prstGeom>
            <a:noFill/>
          </p:spPr>
        </p:pic>
        <p:pic>
          <p:nvPicPr>
            <p:cNvPr id="11" name="Picture 10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9CFAD4D9-3D6B-1A05-2038-938D9B099B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0787" y="105582"/>
              <a:ext cx="465745" cy="430160"/>
            </a:xfrm>
            <a:prstGeom prst="rect">
              <a:avLst/>
            </a:prstGeom>
            <a:noFill/>
          </p:spPr>
        </p:pic>
        <p:pic>
          <p:nvPicPr>
            <p:cNvPr id="13" name="Picture 12" descr="A black background with a black square&#10;&#10;Description automatically generated with medium confidence">
              <a:extLst>
                <a:ext uri="{FF2B5EF4-FFF2-40B4-BE49-F238E27FC236}">
                  <a16:creationId xmlns:a16="http://schemas.microsoft.com/office/drawing/2014/main" id="{A7B09250-2D8F-1CF1-47B6-C9484D8EF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32571" y="105582"/>
              <a:ext cx="394575" cy="394575"/>
            </a:xfrm>
            <a:prstGeom prst="rect">
              <a:avLst/>
            </a:prstGeom>
            <a:noFill/>
          </p:spPr>
        </p:pic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2E8C02E0-DF2F-EE07-CFC6-6518A9D23BCB}"/>
                </a:ext>
              </a:extLst>
            </p:cNvPr>
            <p:cNvSpPr/>
            <p:nvPr/>
          </p:nvSpPr>
          <p:spPr>
            <a:xfrm>
              <a:off x="2188850" y="3789193"/>
              <a:ext cx="9756927" cy="2841664"/>
            </a:xfrm>
            <a:prstGeom prst="roundRect">
              <a:avLst>
                <a:gd name="adj" fmla="val 6866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E1624729-6BD3-FFDF-C78D-824190CE4CD6}"/>
                </a:ext>
              </a:extLst>
            </p:cNvPr>
            <p:cNvSpPr/>
            <p:nvPr/>
          </p:nvSpPr>
          <p:spPr>
            <a:xfrm>
              <a:off x="2174782" y="1319468"/>
              <a:ext cx="4892531" cy="2394404"/>
            </a:xfrm>
            <a:prstGeom prst="roundRect">
              <a:avLst>
                <a:gd name="adj" fmla="val 10238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A4473DD8-0DA7-3A1B-868C-CCDB98F35718}"/>
                </a:ext>
              </a:extLst>
            </p:cNvPr>
            <p:cNvSpPr/>
            <p:nvPr/>
          </p:nvSpPr>
          <p:spPr>
            <a:xfrm>
              <a:off x="7140086" y="1313429"/>
              <a:ext cx="4798696" cy="2400442"/>
            </a:xfrm>
            <a:prstGeom prst="roundRect">
              <a:avLst>
                <a:gd name="adj" fmla="val 10238"/>
              </a:avLst>
            </a:prstGeom>
            <a:solidFill>
              <a:srgbClr val="1B1B1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  <p:pic>
          <p:nvPicPr>
            <p:cNvPr id="52" name="Picture 51" descr="A person wearing a vest and tie&#10;&#10;Description automatically generated">
              <a:extLst>
                <a:ext uri="{FF2B5EF4-FFF2-40B4-BE49-F238E27FC236}">
                  <a16:creationId xmlns:a16="http://schemas.microsoft.com/office/drawing/2014/main" id="{F96F7D04-309E-521E-C98E-5A7A2995BBE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97883" y="681913"/>
              <a:ext cx="534575" cy="526380"/>
            </a:xfrm>
            <a:prstGeom prst="rect">
              <a:avLst/>
            </a:prstGeom>
          </p:spPr>
        </p:pic>
        <p:pic>
          <p:nvPicPr>
            <p:cNvPr id="8" name="Picture 7" descr="A pair of wine glasses&#10;&#10;Description automatically generated">
              <a:extLst>
                <a:ext uri="{FF2B5EF4-FFF2-40B4-BE49-F238E27FC236}">
                  <a16:creationId xmlns:a16="http://schemas.microsoft.com/office/drawing/2014/main" id="{5F10193D-3B58-F616-DAF5-3A7E73BFF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7569" y="842988"/>
              <a:ext cx="532470" cy="60808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5EF840-524A-301C-DABA-9DBBF55275E8}"/>
                </a:ext>
              </a:extLst>
            </p:cNvPr>
            <p:cNvSpPr txBox="1"/>
            <p:nvPr/>
          </p:nvSpPr>
          <p:spPr>
            <a:xfrm>
              <a:off x="2174782" y="844036"/>
              <a:ext cx="46187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Retail &amp; Inventory Sales Dashboard</a:t>
              </a:r>
              <a:endParaRPr lang="en-NG" sz="2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CADC674-8DA2-D929-8A16-042CDCC72AAD}"/>
                </a:ext>
              </a:extLst>
            </p:cNvPr>
            <p:cNvSpPr txBox="1"/>
            <p:nvPr/>
          </p:nvSpPr>
          <p:spPr>
            <a:xfrm>
              <a:off x="124613" y="1482511"/>
              <a:ext cx="206114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PrimeBeverage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Distribution Ltd.</a:t>
              </a:r>
              <a:endParaRPr lang="en-NG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pic>
          <p:nvPicPr>
            <p:cNvPr id="24" name="Picture 23" descr="A blue and black logo&#10;&#10;Description automatically generated">
              <a:extLst>
                <a:ext uri="{FF2B5EF4-FFF2-40B4-BE49-F238E27FC236}">
                  <a16:creationId xmlns:a16="http://schemas.microsoft.com/office/drawing/2014/main" id="{C324CE09-2AE9-BF73-628A-E0F2EC34E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569" y="6006458"/>
              <a:ext cx="324000" cy="324000"/>
            </a:xfrm>
            <a:prstGeom prst="rect">
              <a:avLst/>
            </a:prstGeom>
          </p:spPr>
        </p:pic>
        <p:pic>
          <p:nvPicPr>
            <p:cNvPr id="25" name="Picture 24" descr="A blue and green globe&#10;&#10;Description automatically generated">
              <a:extLst>
                <a:ext uri="{FF2B5EF4-FFF2-40B4-BE49-F238E27FC236}">
                  <a16:creationId xmlns:a16="http://schemas.microsoft.com/office/drawing/2014/main" id="{8E73B004-CAC2-0239-3429-26EF596E0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218039" y="6006458"/>
              <a:ext cx="324000" cy="324000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5BC5350-FA85-2C13-E04F-DC7183C8B74A}"/>
                </a:ext>
              </a:extLst>
            </p:cNvPr>
            <p:cNvSpPr txBox="1"/>
            <p:nvPr/>
          </p:nvSpPr>
          <p:spPr>
            <a:xfrm>
              <a:off x="2241939" y="1384649"/>
              <a:ext cx="20611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Peak Sales Month</a:t>
              </a:r>
              <a:endParaRPr lang="en-NG" sz="1200" dirty="0">
                <a:solidFill>
                  <a:srgbClr val="B3B3B3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06106A-0EC8-10DD-1887-7F5A14850264}"/>
                </a:ext>
              </a:extLst>
            </p:cNvPr>
            <p:cNvSpPr txBox="1"/>
            <p:nvPr/>
          </p:nvSpPr>
          <p:spPr>
            <a:xfrm>
              <a:off x="7264053" y="1386309"/>
              <a:ext cx="22879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Sales Segment Share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342C63A-C8CD-9294-8634-877A1947AF20}"/>
                </a:ext>
              </a:extLst>
            </p:cNvPr>
            <p:cNvSpPr txBox="1"/>
            <p:nvPr/>
          </p:nvSpPr>
          <p:spPr>
            <a:xfrm>
              <a:off x="2241939" y="3845461"/>
              <a:ext cx="25410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B3B3B3"/>
                  </a:solidFill>
                  <a:latin typeface="Segoe UI Semibold" panose="020B0702040204020203" pitchFamily="34" charset="0"/>
                  <a:cs typeface="Segoe UI Semibold" panose="020B0702040204020203" pitchFamily="34" charset="0"/>
                </a:rPr>
                <a:t>Monthly Segment Performance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83930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79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Segoe UI Semibold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Oluwanifemi Dipe</dc:creator>
  <cp:lastModifiedBy>Oluwanifemi Dipe</cp:lastModifiedBy>
  <cp:revision>3</cp:revision>
  <dcterms:created xsi:type="dcterms:W3CDTF">2025-11-13T22:55:47Z</dcterms:created>
  <dcterms:modified xsi:type="dcterms:W3CDTF">2025-11-15T00:58:47Z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2025-11-14T03:18:44Z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255a877a-dc95-45b5-8e06-7add01ba7033</vt:lpwstr>
  </property>
  <property fmtid="{D5CDD505-2E9C-101B-9397-08002B2CF9AE}" pid="7" name="MSIP_Label_defa4170-0d19-0005-0004-bc88714345d2_ActionId">
    <vt:lpwstr>884571bc-1eb7-4592-a5d4-a623387e7487</vt:lpwstr>
  </property>
  <property fmtid="{D5CDD505-2E9C-101B-9397-08002B2CF9AE}" pid="8" name="MSIP_Label_defa4170-0d19-0005-0004-bc88714345d2_ContentBits">
    <vt:lpwstr>0</vt:lpwstr>
  </property>
</Properties>
</file>